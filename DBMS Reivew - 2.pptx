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225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7200"/>
            <a:ext cx="1920240" cy="7269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63640"/>
            <a:ext cx="12191695" cy="45720"/>
          </a:xfrm>
          <a:prstGeom prst="rect">
            <a:avLst/>
          </a:prstGeom>
          <a:solidFill>
            <a:srgbClr val="0B2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18288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</a:t>
            </a:r>
            <a:endParaRPr lang="en-US" sz="34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APPLICATION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480560" y="324612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0B24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480560" y="3246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– REVIEW II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382219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Implementation, SQL Operations and Query Demonstration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416052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(2501IT05)   |   Batch Number: 8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4617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48920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25B11AI494  –  K. Hemanth Sai Venkata Vidya Sagar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25B11AI281  –  M. Ravi Teja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25B11AI084  –  B. Ganesh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26B21AI080  –  N. Subbarao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5806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2026–27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023360" y="5806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Dr. P. Kishorekumar, Associate Professor, Dept. of AIML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292608"/>
            <a:ext cx="1417320" cy="5358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Database System  •  Review – II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554480"/>
            <a:ext cx="11155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is a centralized relational database that organizes and manages the academic information of a university.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– I delivered the conceptual design: entities, attributes, relationships, cardinalities, the relational schema and the ER diagram.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– II implements that design: creating the database, applying constraints, loading sample data and demonstrating SQL operations.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related tables carry the design forward: Department, Student, Faculty, Course, Enrollment, Exam and Result.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 eliminate redundancy, enforce data integrity through keys and constraints, and support fast, reliable retrieval and reporting through SQL.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292608"/>
            <a:ext cx="1417320" cy="5358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and Proposed System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Database System  •  Review – II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1828800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Database 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/ paper-based academic records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relational database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Disconnected spreadsheets and files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 tables linked by Primary and Foreign Keys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and inconsistent information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 and constraints enforce integrity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Time-consuming manual searches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SQL retrieval and filtering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Difficulty generating consolidated reports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Joins, aggregation, views and grouped queries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292608"/>
            <a:ext cx="1417320" cy="5358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Database System  •  Review – II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417320"/>
            <a:ext cx="11155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</a:t>
            </a:r>
            <a:endParaRPr lang="en-US" sz="1450" dirty="0"/>
          </a:p>
          <a:p>
            <a:pPr marL="457200" lvl="1" indent="-2286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add, update, search and display student details.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Management</a:t>
            </a:r>
            <a:endParaRPr lang="en-US" sz="1450" dirty="0"/>
          </a:p>
          <a:p>
            <a:pPr marL="457200" lvl="1" indent="-2286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maintain department information and HOD details.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Management</a:t>
            </a:r>
            <a:endParaRPr lang="en-US" sz="1450" dirty="0"/>
          </a:p>
          <a:p>
            <a:pPr marL="457200" lvl="1" indent="-2286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store faculty details and associate faculty with departments.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Management</a:t>
            </a:r>
            <a:endParaRPr lang="en-US" sz="1450" dirty="0"/>
          </a:p>
          <a:p>
            <a:pPr marL="457200" lvl="1" indent="-2286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maintain courses, credits, department and faculty associations.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Management</a:t>
            </a:r>
            <a:endParaRPr lang="en-US" sz="1450" dirty="0"/>
          </a:p>
          <a:p>
            <a:pPr marL="457200" lvl="1" indent="-2286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register students for courses and track enrollment history.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 &amp; Result Management</a:t>
            </a:r>
            <a:endParaRPr lang="en-US" sz="1450" dirty="0"/>
          </a:p>
          <a:p>
            <a:pPr marL="457200" lvl="1" indent="-2286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schedule exams and store marks / grades against each enrollment.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Reporting</a:t>
            </a:r>
            <a:endParaRPr lang="en-US" sz="1450" dirty="0"/>
          </a:p>
          <a:p>
            <a:pPr marL="457200" lvl="1" indent="-2286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retrieve academic information using SQL queries and views.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292608"/>
            <a:ext cx="1417320" cy="5358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Used for Implementation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Database System  •  Review – II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from Review – I: seven tables carried into implementation.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55680" cy="2438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Faculty_ID, Department_ID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Student_ID, Course_ID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Student_ID, Exam_ID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292608"/>
            <a:ext cx="1417320" cy="5358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Design and Constraints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Database System  •  Review – II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22555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/ Validation Rules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Department_ID; NOT NULL Department_Name; UNIQUE Office_No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Student_ID; NOT NULL Name; UNIQUE Email; FK Department_ID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Faculty_ID; NOT NULL Faculty_Name; UNIQUE Email; FK Department_ID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Course_ID; NOT NULL Course_Name; CHECK Credits &gt; 0; FKs Faculty_ID, Department_ID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Enrollment_ID; NOT NULL Student_ID, Course_ID; FKs Student_ID, Course_ID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Exam_ID; NOT NULL Exam_Type; CHECK Maximum_Marks &gt; 0; FK Course_ID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Result_ID; CHECK Marks &gt;= 0; FKs Student_ID, Exam_ID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292608"/>
            <a:ext cx="1417320" cy="5358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up to 3NF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Database System  •  Review – II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417320"/>
            <a:ext cx="11155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</a:t>
            </a:r>
            <a:endParaRPr lang="en-US" sz="1500" dirty="0"/>
          </a:p>
          <a:p>
            <a:pPr marL="457200" lvl="1" indent="-2286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single record could repeat course, department, faculty and result information together.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500" dirty="0"/>
          </a:p>
          <a:p>
            <a:pPr marL="457200" lvl="1" indent="-2286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repeating groups are removed; every attribute holds a single atomic value.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500" dirty="0"/>
          </a:p>
          <a:p>
            <a:pPr marL="457200" lvl="1" indent="-2286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partial dependencies are removed by separating Student, Course and Enrollment details into their own tables.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500" dirty="0"/>
          </a:p>
          <a:p>
            <a:pPr marL="457200" lvl="1" indent="-2286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transitive dependencies are removed; Department and Faculty details are stored in their own relations rather than repeated inside Student or Course.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relations:</a:t>
            </a:r>
            <a:endParaRPr lang="en-US" sz="1500" dirty="0"/>
          </a:p>
          <a:p>
            <a:pPr marL="457200" lvl="1" indent="-2286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Student, Faculty, Course, Enrollment, Exam and Result — each holding only attributes that depend directly on its own primary key.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292608"/>
            <a:ext cx="1417320" cy="5358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Implementation — DDL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Database System  •  Review – II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02920" y="1234440"/>
            <a:ext cx="11155680" cy="4251960"/>
          </a:xfrm>
          <a:prstGeom prst="roundRect">
            <a:avLst>
              <a:gd name="adj" fmla="val 1720"/>
            </a:avLst>
          </a:prstGeom>
          <a:solidFill>
            <a:srgbClr val="13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58952" y="1417320"/>
            <a:ext cx="1064361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Department (</a:t>
            </a:r>
            <a:endParaRPr lang="en-US" sz="120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Department_ID   INT PRIMARY KEY,</a:t>
            </a:r>
            <a:endParaRPr lang="en-US" sz="120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Department_Name VARCHAR(50) NOT NULL,</a:t>
            </a:r>
            <a:endParaRPr lang="en-US" sz="120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HOD             VARCHAR(50),</a:t>
            </a:r>
            <a:endParaRPr lang="en-US" sz="120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Office_No       VARCHAR(10) UNIQUE</a:t>
            </a:r>
            <a:endParaRPr lang="en-US" sz="120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Student (</a:t>
            </a:r>
            <a:endParaRPr lang="en-US" sz="120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Student_ID      INT PRIMARY KEY,</a:t>
            </a:r>
            <a:endParaRPr lang="en-US" sz="120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VARCHAR(50) NOT NULL,</a:t>
            </a:r>
            <a:endParaRPr lang="en-US" sz="120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         VARCHAR(50) UNIQUE,</a:t>
            </a:r>
            <a:endParaRPr lang="en-US" sz="120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Department_ID   INT,</a:t>
            </a:r>
            <a:endParaRPr lang="en-US" sz="120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(Department_ID) REFERENCES Department(Department_ID)</a:t>
            </a:r>
            <a:endParaRPr lang="en-US" sz="120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62356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Faculty, Course, Enrollment, Exam and Result are created the same way, each with its own PRIMARY KEY and FOREIGN KEY references.</a:t>
            </a:r>
            <a:endParaRPr lang="en-US" sz="12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UNIQUE, CHECK and DEFAULT constraints are applied where appropriate; ALTER TABLE is used whenever a definition needs to change.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292608"/>
            <a:ext cx="1417320" cy="5358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Implementation — DML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Database System  •  Review – II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11155680" cy="3154680"/>
          </a:xfrm>
          <a:prstGeom prst="roundRect">
            <a:avLst>
              <a:gd name="adj" fmla="val 2319"/>
            </a:avLst>
          </a:prstGeom>
          <a:solidFill>
            <a:srgbClr val="13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58952" y="1508760"/>
            <a:ext cx="1064361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8F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Insert parent records before child records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Department VALUES (1, 'Computer Science', 'Dr. K. Rao', 'B-101');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Student VALUES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(101, 'Hemanth Sai', 'M', '2005-04-12', '9876543210',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'hemanth@aditya.edu', 'Visakhapatnam', 1);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8F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Update an existing record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Student SET Phone = '9998887777' WHERE Student_ID = 101;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8F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Delete while respecting referential dependencies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Enrollment WHERE Enrollment_ID = 5010;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4709160"/>
            <a:ext cx="11155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records are inserted into all seven tables using realistic, project-relevant data.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records (Department, Faculty) are inserted before dependent child records (Student, Course, Enrollment) to satisfy foreign-key constraints.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and DELETE are demonstrated on records that don't break referential integrity.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292608"/>
            <a:ext cx="1417320" cy="5358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DQL — Data Retrieval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Database System  •  Review – II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11155680" cy="3291840"/>
          </a:xfrm>
          <a:prstGeom prst="roundRect">
            <a:avLst>
              <a:gd name="adj" fmla="val 2222"/>
            </a:avLst>
          </a:prstGeom>
          <a:solidFill>
            <a:srgbClr val="13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58952" y="1508760"/>
            <a:ext cx="1064361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Email FROM Student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Department_ID = 1 ORDER BY Name;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Course_Name FROM Course;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Faculty_Name, Email FROM Faculty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Email LIKE '%@aditya.edu';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Phone FROM Student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Phone IS NOT NULL;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484632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retrieve only the columns required, filtered with WHERE and sorted with ORDER BY.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removes duplicate values; LIKE supports pattern-based search; IS NULL / IS NOT NULL checks for missing data.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query is framed as a meaningful academic question, e.g. "which students belong to a given department?"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292608"/>
            <a:ext cx="1417320" cy="5358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— Joins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Database System  •  Review – II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11155680" cy="2880360"/>
          </a:xfrm>
          <a:prstGeom prst="roundRect">
            <a:avLst>
              <a:gd name="adj" fmla="val 2540"/>
            </a:avLst>
          </a:prstGeom>
          <a:solidFill>
            <a:srgbClr val="13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58952" y="1508760"/>
            <a:ext cx="1064361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S.Name, D.Department_Name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Student S JOIN Department D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S.Department_ID = D.Department_ID;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St.Name, C.Course_Name, R.Marks, R.Grade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Result R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Exam E ON R.Exam_ID = E.Exam_ID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Course C ON E.Course_ID = C.Course_ID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Student St ON R.Student_ID = St.Student_ID;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4434840"/>
            <a:ext cx="11155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– Faculty: faculty members displayed alongside their department.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– Faculty: courses displayed with the faculty member teaching them.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– Course: enrollment details joined across Student, Enrollment and Course.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– Result: Result, Exam, Course and Student combined to report marks and grades.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292608"/>
            <a:ext cx="1417320" cy="5358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— Aggregate Functions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Database System  •  Review – II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11155680" cy="2743200"/>
          </a:xfrm>
          <a:prstGeom prst="roundRect">
            <a:avLst>
              <a:gd name="adj" fmla="val 2667"/>
            </a:avLst>
          </a:prstGeom>
          <a:solidFill>
            <a:srgbClr val="13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58952" y="1508760"/>
            <a:ext cx="106436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Department_ID, COUNT(*) AS Total_Students</a:t>
            </a:r>
            <a:endParaRPr lang="en-US" sz="130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Student GROUP BY Department_ID;</a:t>
            </a:r>
            <a:endParaRPr lang="en-US" sz="130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C.Course_Name, AVG(R.Marks) AS Average_Marks</a:t>
            </a:r>
            <a:endParaRPr lang="en-US" sz="130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Result R JOIN Exam E ON R.Exam_ID = E.Exam_ID</a:t>
            </a:r>
            <a:endParaRPr lang="en-US" sz="130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Course C ON E.Course_ID = C.Course_ID</a:t>
            </a:r>
            <a:endParaRPr lang="en-US" sz="130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C.Course_Name</a:t>
            </a:r>
            <a:endParaRPr lang="en-US" sz="130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AVG(R.Marks) &gt; 60;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4343400"/>
            <a:ext cx="11155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  </a:t>
            </a: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number of students, courses or results.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AVG() / SUM()  </a:t>
            </a: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average or total marks and credits.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MAX() / MIN()  </a:t>
            </a: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highest and lowest marks per exam or course.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/ HAVING  </a:t>
            </a: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grouped summaries filtered by an aggregate condition.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292608"/>
            <a:ext cx="1417320" cy="5358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Database System  •  Review – II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operation is demonstrated on the live project database with its output shown.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55680" cy="15240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new student to the Student 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a student's enrollment and result details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 a student's contact information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 dropped enrollment record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292608"/>
            <a:ext cx="1417320" cy="5358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Database System  •  Review – II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11155680" cy="2743200"/>
          </a:xfrm>
          <a:prstGeom prst="roundRect">
            <a:avLst>
              <a:gd name="adj" fmla="val 2667"/>
            </a:avLst>
          </a:prstGeom>
          <a:solidFill>
            <a:srgbClr val="13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58952" y="1508760"/>
            <a:ext cx="106436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Student_Result_View AS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S.Name, C.Course_Name, R.Marks, R.Grade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Result R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Exam E ON R.Exam_ID = E.Exam_ID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Course C ON E.Course_ID = C.Course_ID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Student S ON R.Student_ID = S.Student_ID;</a:t>
            </a: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endParaRPr lang="en-US" sz="13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E9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Student_Result_View WHERE Grade = 'A';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4297680"/>
            <a:ext cx="11155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 combines student, course, marks and grade information that is otherwise scattered across four tables.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Retrieving from the view (SELECT * FROM Student_Result_View) is simpler than repeating the full join every time.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reporting: transcripts, grade sheets and academic-performance summaries.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292608"/>
            <a:ext cx="1417320" cy="5358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and Validation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Database System  •  Review – II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202692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is maintained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integrity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keys prevent duplicate or NULL identifiers.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Referential integrity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keys prevent invalid references across the seven tables.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applied to emails and office numbers.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fields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 applied to required attributes such as names.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applied to Credits, Marks and Maximum_Marks.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Grades and result values follow the project's grading rules.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292608"/>
            <a:ext cx="1417320" cy="5358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Output and Screenshots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Database System  •  Review – II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layout — replace each line below with the actual screenshot from your DBMS session.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920240"/>
            <a:ext cx="11155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table creation screenshots (all seven tables).</a:t>
            </a:r>
            <a:endParaRPr lang="en-US" sz="15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records inserted into each table.</a:t>
            </a:r>
            <a:endParaRPr lang="en-US" sz="15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DDL, DML and DQL outputs.</a:t>
            </a:r>
            <a:endParaRPr lang="en-US" sz="15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for joins, aggregate queries, GROUP BY / HAVING and views.</a:t>
            </a:r>
            <a:endParaRPr lang="en-US" sz="15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/ error results — e.g. a rejected duplicate ID or an invalid foreign-key value.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292608"/>
            <a:ext cx="1417320" cy="5358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Coverage for Demonstration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Database System  •  Review – II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260604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SELECT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queries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Filtering / Sorting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queries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5+ meaningful joins across the seven tables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5+ COUNT, AVG, MIN, MAX, SUM queries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 / HAVING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queries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one example for each 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meaningful views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2 constraint demonstrations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292608"/>
            <a:ext cx="1417320" cy="5358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Database Demonstration — Recommended Order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Database System  •  Review – II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417320"/>
            <a:ext cx="11155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database / schema.</a:t>
            </a:r>
            <a:endParaRPr lang="en-US" sz="15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seven tables and their relationships.</a:t>
            </a:r>
            <a:endParaRPr lang="en-US" sz="15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table structures and constraints.</a:t>
            </a:r>
            <a:endParaRPr lang="en-US" sz="15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inserted sample data.</a:t>
            </a:r>
            <a:endParaRPr lang="en-US" sz="15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DDL, DML and DQL.</a:t>
            </a:r>
            <a:endParaRPr lang="en-US" sz="15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CRUD operations.</a:t>
            </a:r>
            <a:endParaRPr lang="en-US" sz="15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join and aggregate queries.</a:t>
            </a:r>
            <a:endParaRPr lang="en-US" sz="15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</a:t>
            </a: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view.</a:t>
            </a:r>
            <a:endParaRPr lang="en-US" sz="15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</a:t>
            </a: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validation / integrity checks.</a:t>
            </a:r>
            <a:endParaRPr lang="en-US" sz="15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</a:t>
            </a: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normalization up to 3NF and answer questions.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292608"/>
            <a:ext cx="1417320" cy="5358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Database System  •  Review – II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554480"/>
            <a:ext cx="11155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implemented database follows the conceptual design developed in Review – I.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related tables organize departments, students, faculty, courses, enrollments, exams and results.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and normalization up to 3NF support data integrity and reduce redundancy.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operations demonstrate creation, modification, retrieval, CRUD, joins, aggregation and reporting through views.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provides a working foundation for future academic-management features.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292608"/>
            <a:ext cx="1417320" cy="5358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Database System  •  Review – II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554480"/>
            <a:ext cx="11155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administrators, faculty and authorized users.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and leave management.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and scholarship management.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and classroom allocation.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reports and analytics dashboards.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Backup, recovery, audit logging and stronger database security.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or mobile application interface over the existing database.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292608"/>
            <a:ext cx="1417320" cy="5358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Database System  •  Review – II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554480"/>
            <a:ext cx="11155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Silberschatz, A., Korth, H. F., and Sudarshan, S., Database System Concepts, McGraw Hill.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Elmasri, R. and Navathe, S. B., Fundamentals of Database Systems, Pearson.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lecture notes, laboratory exercises and approved DBMS learning resources.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292608"/>
            <a:ext cx="1417320" cy="5358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3035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Checklist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Database System  •  Review – II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422452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Area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demonstrate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design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Title, problem, objectives, ER diagram, relational schema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and all seven project tables created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PK, FK, NOT NULL, UNIQUE, CHECK / DEFAULT where appropriate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tables populated with valid records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DDL, DML, DQL demonstrated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Read, Update, Delete demonstrated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Joins, aggregates, GROUP BY / HAVING, views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 → 1NF → 2NF → 3NF explained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IDs, invalid references, invalid values tested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database demonstrated live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728" y="548640"/>
            <a:ext cx="1920240" cy="7269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355848" y="2606040"/>
            <a:ext cx="54864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5875">
            <a:solidFill>
              <a:srgbClr val="D7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3355848" y="2743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3355848" y="3520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1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Database System — Review II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2424</Words>
  <Application>Microsoft Macintosh PowerPoint</Application>
  <PresentationFormat>Widescreen</PresentationFormat>
  <Paragraphs>362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25B11AI494</cp:lastModifiedBy>
  <cp:revision>2</cp:revision>
  <dcterms:created xsi:type="dcterms:W3CDTF">2026-09-26T08:11:25Z</dcterms:created>
  <dcterms:modified xsi:type="dcterms:W3CDTF">2026-10-17T06:32:06Z</dcterms:modified>
</cp:coreProperties>
</file>